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14"/>
  </p:notesMasterIdLst>
  <p:sldIdLst>
    <p:sldId id="256" r:id="rId5"/>
    <p:sldId id="257" r:id="rId6"/>
    <p:sldId id="274" r:id="rId7"/>
    <p:sldId id="277" r:id="rId8"/>
    <p:sldId id="278" r:id="rId9"/>
    <p:sldId id="259" r:id="rId10"/>
    <p:sldId id="272" r:id="rId11"/>
    <p:sldId id="275" r:id="rId12"/>
    <p:sldId id="276" r:id="rId13"/>
  </p:sldIdLst>
  <p:sldSz cx="9144000" cy="5143500" type="screen16x9"/>
  <p:notesSz cx="6858000" cy="9144000"/>
  <p:embeddedFontLst>
    <p:embeddedFont>
      <p:font typeface="Average" panose="020B0604020202020204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Open Sans" panose="020B0604020202020204" charset="0"/>
      <p:regular r:id="rId20"/>
      <p:bold r:id="rId21"/>
    </p:embeddedFont>
    <p:embeddedFont>
      <p:font typeface="Oswald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9CD6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98E49B-AA82-4E06-AB97-926FA7F048F6}" v="4" dt="2026-04-20T09:14:42.119"/>
  </p1510:revLst>
</p1510:revInfo>
</file>

<file path=ppt/tableStyles.xml><?xml version="1.0" encoding="utf-8"?>
<a:tblStyleLst xmlns:a="http://schemas.openxmlformats.org/drawingml/2006/main" def="{8414741C-6EF1-46C5-86DF-1D07E3347A50}">
  <a:tblStyle styleId="{8414741C-6EF1-46C5-86DF-1D07E3347A5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AEAEA"/>
          </a:solidFill>
        </a:fill>
      </a:tcStyle>
    </a:wholeTbl>
    <a:band1H>
      <a:tcTxStyle/>
      <a:tcStyle>
        <a:tcBdr/>
        <a:fill>
          <a:solidFill>
            <a:srgbClr val="D1D1D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1D1D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ery, Thomas" userId="d1fd5322-7435-4f7a-8aa5-1ab1721533d6" providerId="ADAL" clId="{36A5DF75-AF9C-4AA1-A4B2-E4ADEA30B1DC}"/>
    <pc:docChg chg="undo custSel modSld">
      <pc:chgData name="Emery, Thomas" userId="d1fd5322-7435-4f7a-8aa5-1ab1721533d6" providerId="ADAL" clId="{36A5DF75-AF9C-4AA1-A4B2-E4ADEA30B1DC}" dt="2026-04-20T09:14:42.119" v="3" actId="1076"/>
      <pc:docMkLst>
        <pc:docMk/>
      </pc:docMkLst>
      <pc:sldChg chg="modSp mod">
        <pc:chgData name="Emery, Thomas" userId="d1fd5322-7435-4f7a-8aa5-1ab1721533d6" providerId="ADAL" clId="{36A5DF75-AF9C-4AA1-A4B2-E4ADEA30B1DC}" dt="2026-04-20T09:06:17.938" v="1" actId="20577"/>
        <pc:sldMkLst>
          <pc:docMk/>
          <pc:sldMk cId="0" sldId="257"/>
        </pc:sldMkLst>
        <pc:spChg chg="mod">
          <ac:chgData name="Emery, Thomas" userId="d1fd5322-7435-4f7a-8aa5-1ab1721533d6" providerId="ADAL" clId="{36A5DF75-AF9C-4AA1-A4B2-E4ADEA30B1DC}" dt="2026-04-20T09:06:17.938" v="1" actId="20577"/>
          <ac:spMkLst>
            <pc:docMk/>
            <pc:sldMk cId="0" sldId="257"/>
            <ac:spMk id="71" creationId="{00000000-0000-0000-0000-000000000000}"/>
          </ac:spMkLst>
        </pc:spChg>
      </pc:sldChg>
      <pc:sldChg chg="modSp mod">
        <pc:chgData name="Emery, Thomas" userId="d1fd5322-7435-4f7a-8aa5-1ab1721533d6" providerId="ADAL" clId="{36A5DF75-AF9C-4AA1-A4B2-E4ADEA30B1DC}" dt="2026-04-20T09:14:42.119" v="3" actId="1076"/>
        <pc:sldMkLst>
          <pc:docMk/>
          <pc:sldMk cId="779206947" sldId="278"/>
        </pc:sldMkLst>
        <pc:picChg chg="mod">
          <ac:chgData name="Emery, Thomas" userId="d1fd5322-7435-4f7a-8aa5-1ab1721533d6" providerId="ADAL" clId="{36A5DF75-AF9C-4AA1-A4B2-E4ADEA30B1DC}" dt="2026-04-20T09:14:42.119" v="3" actId="1076"/>
          <ac:picMkLst>
            <pc:docMk/>
            <pc:sldMk cId="779206947" sldId="278"/>
            <ac:picMk id="3" creationId="{C1ED461F-506F-2A58-DA68-9DF5F9FB438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C0164F0E-691C-F0F6-80C5-DFE3495B8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A3BAB6A1-D579-4969-52D3-EC6C098832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3147E16D-A1EE-A0F6-1DF7-D0758A7D0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1257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2DC4EA35-5DDF-700B-AF3B-8A8D2998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E6233603-88B1-8FAA-D018-3ED468407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BB26909D-B2D4-2335-0543-3E0328DED1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5039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9A819641-3E10-3912-0434-48AB2E97E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DB433878-9466-021F-E2AD-E08895539E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3F1903E9-69E6-9068-5830-20DD4974F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7439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6b6f16d549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6b6f16d549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4F000629-6304-1FB8-D7B5-B6EBE340F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>
            <a:extLst>
              <a:ext uri="{FF2B5EF4-FFF2-40B4-BE49-F238E27FC236}">
                <a16:creationId xmlns:a16="http://schemas.microsoft.com/office/drawing/2014/main" id="{B6310D3C-E256-1005-2698-92DE5DFC5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9:notes">
            <a:extLst>
              <a:ext uri="{FF2B5EF4-FFF2-40B4-BE49-F238E27FC236}">
                <a16:creationId xmlns:a16="http://schemas.microsoft.com/office/drawing/2014/main" id="{46806AA5-2ACB-7421-F314-B480A276F8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1233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D4FAB355-333D-024F-0E00-3ED46C98E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>
            <a:extLst>
              <a:ext uri="{FF2B5EF4-FFF2-40B4-BE49-F238E27FC236}">
                <a16:creationId xmlns:a16="http://schemas.microsoft.com/office/drawing/2014/main" id="{653D1CFB-DC03-2D62-0209-7C49D6DD33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9:notes">
            <a:extLst>
              <a:ext uri="{FF2B5EF4-FFF2-40B4-BE49-F238E27FC236}">
                <a16:creationId xmlns:a16="http://schemas.microsoft.com/office/drawing/2014/main" id="{58CD1A57-8BD0-9784-1A53-99A9226D8D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83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10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sual-paradigm.com/guide/data-modeling/what-is-entity-relationship-diagra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anthaRajuC/Reserved-Key-Words-list-of-various-programming-languages/blob/master/language-files/SQLite%20Reserved%20Keywords.m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qlite-statements-or-syntax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SQLite3!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Lesson Objectives</a:t>
            </a: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>
                <a:solidFill>
                  <a:schemeClr val="dk1"/>
                </a:solidFill>
              </a:rPr>
              <a:t>PK and FK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endParaRPr lang="en-GB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>
                <a:solidFill>
                  <a:schemeClr val="dk1"/>
                </a:solidFill>
              </a:rPr>
              <a:t>ERD – Entity Relationship Diagram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GB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GB">
                <a:solidFill>
                  <a:schemeClr val="dk1"/>
                </a:solidFill>
              </a:rPr>
              <a:t>CREATE table and other syntax</a:t>
            </a:r>
            <a:endParaRPr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US">
                <a:solidFill>
                  <a:schemeClr val="dk1"/>
                </a:solidFill>
              </a:rPr>
              <a:t>Basic query examples </a:t>
            </a: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US">
                <a:solidFill>
                  <a:schemeClr val="dk1"/>
                </a:solidFill>
              </a:rPr>
              <a:t>Challenge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B32774E4-692D-7589-7F4C-3C64AE729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87823B28-64A9-F71A-56DE-D8C801419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Primary &amp; Foreign Keys</a:t>
            </a: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E65C97-C068-C542-F29D-035848FB2B16}"/>
              </a:ext>
            </a:extLst>
          </p:cNvPr>
          <p:cNvSpPr/>
          <p:nvPr/>
        </p:nvSpPr>
        <p:spPr>
          <a:xfrm>
            <a:off x="404735" y="1528997"/>
            <a:ext cx="2121108" cy="3447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employees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446E3A-F43B-B40F-7AD1-9000A1CFEBDE}"/>
              </a:ext>
            </a:extLst>
          </p:cNvPr>
          <p:cNvSpPr/>
          <p:nvPr/>
        </p:nvSpPr>
        <p:spPr>
          <a:xfrm>
            <a:off x="404734" y="1873770"/>
            <a:ext cx="2121109" cy="10568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/>
              <a:t>PK </a:t>
            </a:r>
            <a:r>
              <a:rPr lang="en-GB" err="1"/>
              <a:t>employee_id</a:t>
            </a:r>
            <a:r>
              <a:rPr lang="en-GB"/>
              <a:t>: int</a:t>
            </a:r>
          </a:p>
          <a:p>
            <a:r>
              <a:rPr lang="en-GB" err="1"/>
              <a:t>first_name:text</a:t>
            </a:r>
            <a:endParaRPr lang="en-GB"/>
          </a:p>
          <a:p>
            <a:r>
              <a:rPr lang="en-GB" err="1"/>
              <a:t>family_name</a:t>
            </a:r>
            <a:r>
              <a:rPr lang="en-GB"/>
              <a:t>: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0BB45D-6BA0-56A1-BD66-45F18348F514}"/>
              </a:ext>
            </a:extLst>
          </p:cNvPr>
          <p:cNvSpPr/>
          <p:nvPr/>
        </p:nvSpPr>
        <p:spPr>
          <a:xfrm>
            <a:off x="3511446" y="1528997"/>
            <a:ext cx="2121108" cy="3447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departments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2316F5-726B-0665-FBB0-0A443780A24C}"/>
              </a:ext>
            </a:extLst>
          </p:cNvPr>
          <p:cNvSpPr/>
          <p:nvPr/>
        </p:nvSpPr>
        <p:spPr>
          <a:xfrm>
            <a:off x="3511445" y="1873770"/>
            <a:ext cx="2121109" cy="10568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/>
              <a:t>PK </a:t>
            </a:r>
            <a:r>
              <a:rPr lang="en-GB" err="1"/>
              <a:t>department_id</a:t>
            </a:r>
            <a:r>
              <a:rPr lang="en-GB"/>
              <a:t>: int</a:t>
            </a:r>
          </a:p>
          <a:p>
            <a:r>
              <a:rPr lang="en-GB" err="1"/>
              <a:t>department_name</a:t>
            </a:r>
            <a:endParaRPr lang="en-GB"/>
          </a:p>
          <a:p>
            <a:r>
              <a:rPr lang="en-GB" b="1"/>
              <a:t>FK </a:t>
            </a:r>
            <a:r>
              <a:rPr lang="en-GB" err="1"/>
              <a:t>manager_id</a:t>
            </a:r>
            <a:endParaRPr lang="en-GB"/>
          </a:p>
          <a:p>
            <a:r>
              <a:rPr lang="en-GB" b="1"/>
              <a:t>FK</a:t>
            </a:r>
            <a:r>
              <a:rPr lang="en-GB"/>
              <a:t> </a:t>
            </a:r>
            <a:r>
              <a:rPr lang="en-GB" err="1"/>
              <a:t>employee_id</a:t>
            </a:r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ECC7D9-08CD-9353-A41B-72121F9628B9}"/>
              </a:ext>
            </a:extLst>
          </p:cNvPr>
          <p:cNvSpPr/>
          <p:nvPr/>
        </p:nvSpPr>
        <p:spPr>
          <a:xfrm>
            <a:off x="6618157" y="1528997"/>
            <a:ext cx="2121108" cy="3447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managers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6DF9C6-CDFC-F76D-1385-44C9A89F243E}"/>
              </a:ext>
            </a:extLst>
          </p:cNvPr>
          <p:cNvSpPr/>
          <p:nvPr/>
        </p:nvSpPr>
        <p:spPr>
          <a:xfrm>
            <a:off x="6618156" y="1873770"/>
            <a:ext cx="2121109" cy="10568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/>
              <a:t>PK </a:t>
            </a:r>
            <a:r>
              <a:rPr lang="en-GB" err="1"/>
              <a:t>manager_id</a:t>
            </a:r>
            <a:r>
              <a:rPr lang="en-GB"/>
              <a:t>: int</a:t>
            </a:r>
          </a:p>
          <a:p>
            <a:r>
              <a:rPr lang="en-GB" err="1"/>
              <a:t>department_name</a:t>
            </a:r>
            <a:endParaRPr lang="en-GB"/>
          </a:p>
          <a:p>
            <a:r>
              <a:rPr lang="en-GB" err="1"/>
              <a:t>first_name:text</a:t>
            </a:r>
            <a:endParaRPr lang="en-GB"/>
          </a:p>
          <a:p>
            <a:r>
              <a:rPr lang="en-GB" err="1"/>
              <a:t>family_name</a:t>
            </a:r>
            <a:r>
              <a:rPr lang="en-GB"/>
              <a:t>: 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34744A-5728-D12C-FF14-50EFDAAD600B}"/>
              </a:ext>
            </a:extLst>
          </p:cNvPr>
          <p:cNvSpPr txBox="1"/>
          <p:nvPr/>
        </p:nvSpPr>
        <p:spPr>
          <a:xfrm>
            <a:off x="404733" y="3169736"/>
            <a:ext cx="8334531" cy="811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>
                <a:solidFill>
                  <a:schemeClr val="tx2"/>
                </a:solidFill>
                <a:effectLst/>
                <a:latin typeface="+mn-lt"/>
              </a:rPr>
              <a:t>What relationships could we use between these tables?</a:t>
            </a:r>
          </a:p>
          <a:p>
            <a:pPr>
              <a:lnSpc>
                <a:spcPts val="1425"/>
              </a:lnSpc>
            </a:pPr>
            <a:endParaRPr lang="en-US" sz="1600">
              <a:solidFill>
                <a:schemeClr val="tx2"/>
              </a:solidFill>
              <a:latin typeface="+mn-lt"/>
            </a:endParaRPr>
          </a:p>
          <a:p>
            <a:pPr>
              <a:lnSpc>
                <a:spcPts val="1425"/>
              </a:lnSpc>
            </a:pPr>
            <a:r>
              <a:rPr lang="en-US" sz="1600">
                <a:solidFill>
                  <a:schemeClr val="tx2"/>
                </a:solidFill>
                <a:latin typeface="+mn-lt"/>
              </a:rPr>
              <a:t>Are there any many-to-many relationships? If so, what can we do to remove the many-to-many relationships? </a:t>
            </a:r>
          </a:p>
        </p:txBody>
      </p:sp>
    </p:spTree>
    <p:extLst>
      <p:ext uri="{BB962C8B-B14F-4D97-AF65-F5344CB8AC3E}">
        <p14:creationId xmlns:p14="http://schemas.microsoft.com/office/powerpoint/2010/main" val="445772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27B0ABC5-7B70-A30F-E18F-F393094C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4475DDB1-76C8-06E7-0856-8BEDBFE566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Primary &amp; Foreign Keys</a:t>
            </a: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3FE053-2130-7F39-67D5-DFD7F0A953CF}"/>
              </a:ext>
            </a:extLst>
          </p:cNvPr>
          <p:cNvSpPr/>
          <p:nvPr/>
        </p:nvSpPr>
        <p:spPr>
          <a:xfrm>
            <a:off x="404735" y="1528997"/>
            <a:ext cx="2121108" cy="3447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wheels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F36492-E4C2-B18B-B934-9BE0540E8D2C}"/>
              </a:ext>
            </a:extLst>
          </p:cNvPr>
          <p:cNvSpPr/>
          <p:nvPr/>
        </p:nvSpPr>
        <p:spPr>
          <a:xfrm>
            <a:off x="404734" y="1873770"/>
            <a:ext cx="2121109" cy="10568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/>
              <a:t>PK </a:t>
            </a:r>
            <a:r>
              <a:rPr lang="en-GB" err="1"/>
              <a:t>wheel_id</a:t>
            </a:r>
            <a:r>
              <a:rPr lang="en-GB"/>
              <a:t>: int</a:t>
            </a:r>
          </a:p>
          <a:p>
            <a:r>
              <a:rPr lang="en-GB"/>
              <a:t>quantity: int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E4B49C-D093-865F-FFEE-B71C937F1C92}"/>
              </a:ext>
            </a:extLst>
          </p:cNvPr>
          <p:cNvSpPr/>
          <p:nvPr/>
        </p:nvSpPr>
        <p:spPr>
          <a:xfrm>
            <a:off x="3511446" y="1528997"/>
            <a:ext cx="2121108" cy="3447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cars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2ED723-6B1C-5CA9-110E-1B3E4B51AF30}"/>
              </a:ext>
            </a:extLst>
          </p:cNvPr>
          <p:cNvSpPr/>
          <p:nvPr/>
        </p:nvSpPr>
        <p:spPr>
          <a:xfrm>
            <a:off x="3511445" y="1873770"/>
            <a:ext cx="2121109" cy="15964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/>
              <a:t>PK </a:t>
            </a:r>
            <a:r>
              <a:rPr lang="en-GB" err="1"/>
              <a:t>car_id</a:t>
            </a:r>
            <a:r>
              <a:rPr lang="en-GB"/>
              <a:t>: int</a:t>
            </a:r>
          </a:p>
          <a:p>
            <a:r>
              <a:rPr lang="en-GB"/>
              <a:t>make</a:t>
            </a:r>
          </a:p>
          <a:p>
            <a:r>
              <a:rPr lang="en-GB"/>
              <a:t>model</a:t>
            </a:r>
          </a:p>
          <a:p>
            <a:r>
              <a:rPr lang="en-GB"/>
              <a:t>colour</a:t>
            </a:r>
          </a:p>
          <a:p>
            <a:r>
              <a:rPr lang="en-GB"/>
              <a:t>seats</a:t>
            </a:r>
          </a:p>
          <a:p>
            <a:r>
              <a:rPr lang="en-GB" b="1"/>
              <a:t>FK </a:t>
            </a:r>
            <a:r>
              <a:rPr lang="en-GB" err="1"/>
              <a:t>steering_wheel_id</a:t>
            </a:r>
            <a:endParaRPr lang="en-GB"/>
          </a:p>
          <a:p>
            <a:r>
              <a:rPr lang="en-GB" b="1"/>
              <a:t>FK </a:t>
            </a:r>
            <a:r>
              <a:rPr lang="en-GB" err="1"/>
              <a:t>wheel_id</a:t>
            </a:r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6E0341-FBB0-51B3-3812-E38385244B00}"/>
              </a:ext>
            </a:extLst>
          </p:cNvPr>
          <p:cNvSpPr/>
          <p:nvPr/>
        </p:nvSpPr>
        <p:spPr>
          <a:xfrm>
            <a:off x="6445770" y="1528997"/>
            <a:ext cx="2293495" cy="3447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err="1"/>
              <a:t>steering_wheel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4A1C4C-47ED-EC1D-8526-AE841922D23D}"/>
              </a:ext>
            </a:extLst>
          </p:cNvPr>
          <p:cNvSpPr/>
          <p:nvPr/>
        </p:nvSpPr>
        <p:spPr>
          <a:xfrm>
            <a:off x="6445770" y="1873770"/>
            <a:ext cx="2293495" cy="105680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/>
              <a:t>PK </a:t>
            </a:r>
            <a:r>
              <a:rPr lang="en-GB" err="1"/>
              <a:t>steering_wheel_id</a:t>
            </a:r>
            <a:r>
              <a:rPr lang="en-GB"/>
              <a:t>: int</a:t>
            </a:r>
          </a:p>
          <a:p>
            <a:r>
              <a:rPr lang="en-GB"/>
              <a:t>colour: text</a:t>
            </a:r>
          </a:p>
          <a:p>
            <a:r>
              <a:rPr lang="en-GB"/>
              <a:t>quantity: int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3082A9-FC12-7779-C8D4-B24F49E918B2}"/>
              </a:ext>
            </a:extLst>
          </p:cNvPr>
          <p:cNvSpPr txBox="1"/>
          <p:nvPr/>
        </p:nvSpPr>
        <p:spPr>
          <a:xfrm>
            <a:off x="404734" y="3886714"/>
            <a:ext cx="8334531" cy="811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>
                <a:solidFill>
                  <a:schemeClr val="tx2"/>
                </a:solidFill>
                <a:effectLst/>
                <a:latin typeface="+mn-lt"/>
              </a:rPr>
              <a:t>What relationships could we use between these tables?</a:t>
            </a:r>
          </a:p>
          <a:p>
            <a:pPr>
              <a:lnSpc>
                <a:spcPts val="1425"/>
              </a:lnSpc>
            </a:pPr>
            <a:endParaRPr lang="en-US" sz="1600">
              <a:solidFill>
                <a:schemeClr val="tx2"/>
              </a:solidFill>
              <a:latin typeface="+mn-lt"/>
            </a:endParaRPr>
          </a:p>
          <a:p>
            <a:pPr>
              <a:lnSpc>
                <a:spcPts val="1425"/>
              </a:lnSpc>
            </a:pPr>
            <a:r>
              <a:rPr lang="en-US" sz="1600">
                <a:solidFill>
                  <a:schemeClr val="tx2"/>
                </a:solidFill>
                <a:latin typeface="+mn-lt"/>
              </a:rPr>
              <a:t>Are there any many-to-many relationships? If so, what can we do to remove the many-to-many relationships? </a:t>
            </a:r>
          </a:p>
        </p:txBody>
      </p:sp>
    </p:spTree>
    <p:extLst>
      <p:ext uri="{BB962C8B-B14F-4D97-AF65-F5344CB8AC3E}">
        <p14:creationId xmlns:p14="http://schemas.microsoft.com/office/powerpoint/2010/main" val="1509154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0AC6A735-B723-01E4-E971-419E360DA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69C9D070-FBFD-A60F-44BF-37F6A505C4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Primary &amp; Foreign Keys</a:t>
            </a:r>
            <a:endParaRPr/>
          </a:p>
        </p:txBody>
      </p:sp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C1ED461F-506F-2A58-DA68-9DF5F9FB4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07" y="1212988"/>
            <a:ext cx="3982006" cy="2867425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45F03C-64FF-D15C-D427-4839C1510D40}"/>
              </a:ext>
            </a:extLst>
          </p:cNvPr>
          <p:cNvSpPr txBox="1"/>
          <p:nvPr/>
        </p:nvSpPr>
        <p:spPr>
          <a:xfrm>
            <a:off x="4707889" y="1017724"/>
            <a:ext cx="4181278" cy="315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b="0" i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Database is absolutely an integral part of software systems. To fully utilize ER Diagram in database engineering guarantees you to produce high-quality database design to use in database creation, management, and maintenance. An ER model also provides a means for communication.</a:t>
            </a:r>
            <a:endParaRPr lang="en-US">
              <a:solidFill>
                <a:schemeClr val="tx1"/>
              </a:solidFill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1100">
                <a:solidFill>
                  <a:schemeClr val="accent5"/>
                </a:solidFill>
                <a:hlinkClick r:id="rId3"/>
              </a:rPr>
              <a:t>Links - https://www.visual-paradigm.com/guide/data-modeling/what-is-entity-relationship-diagram/</a:t>
            </a:r>
            <a:endParaRPr lang="en-GB" sz="1100">
              <a:solidFill>
                <a:schemeClr val="accent5"/>
              </a:solidFill>
            </a:endParaRPr>
          </a:p>
          <a:p>
            <a:pPr algn="l">
              <a:lnSpc>
                <a:spcPct val="150000"/>
              </a:lnSpc>
              <a:buNone/>
            </a:pPr>
            <a:endParaRPr lang="en-US" b="0" i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B4E4B0-1D4E-BB79-9230-8D83455F8BD5}"/>
              </a:ext>
            </a:extLst>
          </p:cNvPr>
          <p:cNvSpPr txBox="1"/>
          <p:nvPr/>
        </p:nvSpPr>
        <p:spPr>
          <a:xfrm>
            <a:off x="4540715" y="799188"/>
            <a:ext cx="334348" cy="75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sz="3200">
                <a:solidFill>
                  <a:schemeClr val="tx1"/>
                </a:solidFill>
                <a:latin typeface="Open Sans" panose="020B0606030504020204" pitchFamily="34" charset="0"/>
              </a:rPr>
              <a:t>“</a:t>
            </a:r>
            <a:endParaRPr lang="en-US" b="0" i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A16733-C192-4506-BE46-2824539CE99F}"/>
              </a:ext>
            </a:extLst>
          </p:cNvPr>
          <p:cNvSpPr txBox="1"/>
          <p:nvPr/>
        </p:nvSpPr>
        <p:spPr>
          <a:xfrm>
            <a:off x="6941641" y="2712932"/>
            <a:ext cx="334348" cy="75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sz="3200">
                <a:solidFill>
                  <a:schemeClr val="tx1"/>
                </a:solidFill>
                <a:latin typeface="Open Sans" panose="020B0606030504020204" pitchFamily="34" charset="0"/>
              </a:rPr>
              <a:t>“</a:t>
            </a:r>
            <a:endParaRPr lang="en-US" b="0" i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45283C-9B59-0527-87FD-378A322F7F00}"/>
              </a:ext>
            </a:extLst>
          </p:cNvPr>
          <p:cNvSpPr txBox="1"/>
          <p:nvPr/>
        </p:nvSpPr>
        <p:spPr>
          <a:xfrm>
            <a:off x="332450" y="4278148"/>
            <a:ext cx="8520600" cy="704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b="0" i="0" err="1">
                <a:solidFill>
                  <a:schemeClr val="tx1"/>
                </a:solidFill>
                <a:effectLst/>
                <a:latin typeface="Open Sans" panose="020B0606030504020204" pitchFamily="34" charset="0"/>
                <a:hlinkClick r:id="rId3"/>
              </a:rPr>
              <a:t>VisualParadigm</a:t>
            </a:r>
            <a:r>
              <a:rPr lang="en-US" b="0" i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 have an excellent article which has several different ERDs and explains their relationships. They also discuss ERDs in context with a Data Flow Diagram. Have a read for 10 mins </a:t>
            </a:r>
          </a:p>
        </p:txBody>
      </p:sp>
    </p:spTree>
    <p:extLst>
      <p:ext uri="{BB962C8B-B14F-4D97-AF65-F5344CB8AC3E}">
        <p14:creationId xmlns:p14="http://schemas.microsoft.com/office/powerpoint/2010/main" val="77920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689" y="3182313"/>
            <a:ext cx="4189450" cy="1801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349815" y="1190782"/>
            <a:ext cx="8621496" cy="123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en-GB" sz="1350">
                <a:solidFill>
                  <a:srgbClr val="FFFFFF"/>
                </a:solidFill>
              </a:rPr>
              <a:t>A set of information describing the contents, format, and structure of a database and the relationship between its elements, used to control access to and manipulation of the database.</a:t>
            </a:r>
            <a:endParaRPr sz="1350">
              <a:solidFill>
                <a:srgbClr val="FFFFFF"/>
              </a:solidFill>
            </a:endParaRPr>
          </a:p>
          <a:p>
            <a:endParaRPr sz="1350">
              <a:solidFill>
                <a:srgbClr val="FFFFFF"/>
              </a:solidFill>
            </a:endParaRPr>
          </a:p>
          <a:p>
            <a:r>
              <a:rPr lang="en-GB" sz="1350">
                <a:solidFill>
                  <a:srgbClr val="FFFFFF"/>
                </a:solidFill>
              </a:rPr>
              <a:t>Below is a good example of a data dictionary with constraints. You can create one data dictionary per table. I find it easier to use something like Excel or Google Sheets</a:t>
            </a:r>
            <a:endParaRPr sz="1350">
              <a:solidFill>
                <a:srgbClr val="FFFFFF"/>
              </a:solidFill>
            </a:endParaRPr>
          </a:p>
        </p:txBody>
      </p:sp>
      <p:pic>
        <p:nvPicPr>
          <p:cNvPr id="1026" name="Picture 2" descr="data dictionary">
            <a:extLst>
              <a:ext uri="{FF2B5EF4-FFF2-40B4-BE49-F238E27FC236}">
                <a16:creationId xmlns:a16="http://schemas.microsoft.com/office/drawing/2014/main" id="{2B1D69E8-8FA9-C47B-95BF-A60702807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240" y="3182312"/>
            <a:ext cx="4425071" cy="180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0;p15">
            <a:extLst>
              <a:ext uri="{FF2B5EF4-FFF2-40B4-BE49-F238E27FC236}">
                <a16:creationId xmlns:a16="http://schemas.microsoft.com/office/drawing/2014/main" id="{0796DDC0-5170-F7DF-4667-32E394173A60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Data Dictionary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/>
        </p:nvSpPr>
        <p:spPr>
          <a:xfrm>
            <a:off x="464099" y="1170126"/>
            <a:ext cx="7548217" cy="349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775" rIns="0" bIns="0" anchor="t" anchorCtr="0">
            <a:noAutofit/>
          </a:bodyPr>
          <a:lstStyle/>
          <a:p>
            <a:pPr marL="352425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All the SQLite statements end with a semicolon (;).</a:t>
            </a:r>
          </a:p>
          <a:p>
            <a:pPr marL="352425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endParaRPr lang="en-US" sz="2000" b="0" i="0" u="none" strike="noStrike" cap="none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352425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endParaRPr lang="en-US" sz="2000" b="0" i="0" u="none" strike="noStrike" cap="none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352425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SQLite is case-insensitive, meaning that keywords like SELECT, INSERT, UPDATE, DELETE, ALTER, DROP, etc. are treated the same regardless of capitalization.</a:t>
            </a:r>
          </a:p>
          <a:p>
            <a:pPr marL="9525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en-US" sz="2000" b="0" i="0" u="none" strike="noStrike" cap="none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352425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SQLite uses single-line comments starting with - - </a:t>
            </a:r>
          </a:p>
        </p:txBody>
      </p:sp>
      <p:sp>
        <p:nvSpPr>
          <p:cNvPr id="196" name="Google Shape;196;p30"/>
          <p:cNvSpPr txBox="1"/>
          <p:nvPr/>
        </p:nvSpPr>
        <p:spPr>
          <a:xfrm>
            <a:off x="464100" y="597425"/>
            <a:ext cx="803710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Syntax</a:t>
            </a:r>
            <a:endParaRPr sz="3000" b="0" i="0" u="none" strike="noStrike" cap="non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ED4797-49A6-41FB-429E-151DC3945417}"/>
              </a:ext>
            </a:extLst>
          </p:cNvPr>
          <p:cNvSpPr txBox="1"/>
          <p:nvPr/>
        </p:nvSpPr>
        <p:spPr>
          <a:xfrm>
            <a:off x="697042" y="3836798"/>
            <a:ext cx="4572000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 Select courses taught by "Dr. Smith"</a:t>
            </a: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0D407E-40B5-2CB1-9761-1B7657FD7E67}"/>
              </a:ext>
            </a:extLst>
          </p:cNvPr>
          <p:cNvSpPr txBox="1"/>
          <p:nvPr/>
        </p:nvSpPr>
        <p:spPr>
          <a:xfrm>
            <a:off x="697042" y="1626006"/>
            <a:ext cx="2465882" cy="63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GB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students</a:t>
            </a:r>
            <a: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GB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E751F47A-A34F-F702-A5A6-4E06E45DB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>
            <a:extLst>
              <a:ext uri="{FF2B5EF4-FFF2-40B4-BE49-F238E27FC236}">
                <a16:creationId xmlns:a16="http://schemas.microsoft.com/office/drawing/2014/main" id="{519034D5-A3D7-A046-2E69-611999246990}"/>
              </a:ext>
            </a:extLst>
          </p:cNvPr>
          <p:cNvSpPr txBox="1"/>
          <p:nvPr/>
        </p:nvSpPr>
        <p:spPr>
          <a:xfrm>
            <a:off x="464100" y="597425"/>
            <a:ext cx="803710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Syntax – reserved words</a:t>
            </a:r>
            <a:endParaRPr sz="3000" b="0" i="0" u="none" strike="noStrike" cap="non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4" name="Picture 3">
            <a:hlinkClick r:id="rId3"/>
            <a:extLst>
              <a:ext uri="{FF2B5EF4-FFF2-40B4-BE49-F238E27FC236}">
                <a16:creationId xmlns:a16="http://schemas.microsoft.com/office/drawing/2014/main" id="{E8500BF6-749E-6808-B289-FABA55DCF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00" y="1170125"/>
            <a:ext cx="4976734" cy="367384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0C616CE8-7E38-7405-09C5-2C691AE003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5823" y="1311415"/>
            <a:ext cx="4257206" cy="367491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9" name="Picture 8">
            <a:hlinkClick r:id="rId3"/>
            <a:extLst>
              <a:ext uri="{FF2B5EF4-FFF2-40B4-BE49-F238E27FC236}">
                <a16:creationId xmlns:a16="http://schemas.microsoft.com/office/drawing/2014/main" id="{F81D251C-46CA-1646-2975-1CD88DBC77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4440" y="1431791"/>
            <a:ext cx="4884513" cy="341218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337943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F0F82ABD-52C7-A828-E0EC-C969E158A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>
            <a:extLst>
              <a:ext uri="{FF2B5EF4-FFF2-40B4-BE49-F238E27FC236}">
                <a16:creationId xmlns:a16="http://schemas.microsoft.com/office/drawing/2014/main" id="{9A735F7A-C7D5-A01A-FFDF-F476BD242E94}"/>
              </a:ext>
            </a:extLst>
          </p:cNvPr>
          <p:cNvSpPr txBox="1"/>
          <p:nvPr/>
        </p:nvSpPr>
        <p:spPr>
          <a:xfrm>
            <a:off x="464100" y="597425"/>
            <a:ext cx="803710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</a:pPr>
            <a:r>
              <a:rPr lang="en-US"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Syntax – reserved words</a:t>
            </a:r>
            <a:endParaRPr sz="3000" b="0" i="0" u="none" strike="noStrike" cap="non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D7F42A-1284-76E2-A9F2-BED31DB95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00" y="1349494"/>
            <a:ext cx="2538180" cy="5405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4761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col1, col2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DD4B69-7A74-1EA9-2A68-A6994B44E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01" y="2065271"/>
            <a:ext cx="3757380" cy="5405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4761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INSERT INTO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(col1, col2)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(val1, val2);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DF1CA27-431E-5EBB-A863-A5955338B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00" y="2781048"/>
            <a:ext cx="3141886" cy="7867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4761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tablename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col1 = val1, col2 = val2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 WHERE CONDITION ];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C2AE7B7-54A3-219E-1098-97061ADDB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00" y="3737154"/>
            <a:ext cx="2356414" cy="54051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4761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DELETE FROM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tablename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{CONDITION};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786790C-934F-B374-2C44-F6C058CF6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2652" y="1349494"/>
            <a:ext cx="4130040" cy="12791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4761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CREATE TABLE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tablename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col1 datatype,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   col2 datatype,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 one or more columns )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E631D87C-C476-4A61-A304-9AC57D56A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2652" y="2781048"/>
            <a:ext cx="4393545" cy="7867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4761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col1, col2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tablename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CONDITION-1 {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} CONDITION-2;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hlinkClick r:id="rId3"/>
            <a:extLst>
              <a:ext uri="{FF2B5EF4-FFF2-40B4-BE49-F238E27FC236}">
                <a16:creationId xmlns:a16="http://schemas.microsoft.com/office/drawing/2014/main" id="{2CFC5A83-5D0B-E6D0-8F05-045458845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337" y="3749581"/>
            <a:ext cx="2263860" cy="115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271398"/>
      </p:ext>
    </p:extLst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4dff86b-9fde-4986-8921-e94e11ccde2a">
      <Terms xmlns="http://schemas.microsoft.com/office/infopath/2007/PartnerControls"/>
    </lcf76f155ced4ddcb4097134ff3c332f>
    <TaxCatchAll xmlns="cb1b0fa5-25b7-437e-86ef-ee6c24009de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0C76E5EEB86245B1F8CB62D1DF6EF2" ma:contentTypeVersion="10" ma:contentTypeDescription="Create a new document." ma:contentTypeScope="" ma:versionID="f37356f29cd2912ef777cc53010c9437">
  <xsd:schema xmlns:xsd="http://www.w3.org/2001/XMLSchema" xmlns:xs="http://www.w3.org/2001/XMLSchema" xmlns:p="http://schemas.microsoft.com/office/2006/metadata/properties" xmlns:ns2="44dff86b-9fde-4986-8921-e94e11ccde2a" xmlns:ns3="cb1b0fa5-25b7-437e-86ef-ee6c24009dec" targetNamespace="http://schemas.microsoft.com/office/2006/metadata/properties" ma:root="true" ma:fieldsID="b72b59f29e0f2c03a5e89b5cb5af73c4" ns2:_="" ns3:_="">
    <xsd:import namespace="44dff86b-9fde-4986-8921-e94e11ccde2a"/>
    <xsd:import namespace="cb1b0fa5-25b7-437e-86ef-ee6c24009d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dff86b-9fde-4986-8921-e94e11ccde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f40cc42-bcb0-41a6-972d-d38fc921a0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1b0fa5-25b7-437e-86ef-ee6c24009de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e3d5ddd-7d73-40e0-a2a1-f42649c36a3b}" ma:internalName="TaxCatchAll" ma:showField="CatchAllData" ma:web="cb1b0fa5-25b7-437e-86ef-ee6c24009d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BC4A8D7-C19E-401D-B2A0-6662D5A9E5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7F8FCA-A5D4-49D9-9DEB-98067E6AB4B7}">
  <ds:schemaRefs>
    <ds:schemaRef ds:uri="44dff86b-9fde-4986-8921-e94e11ccde2a"/>
    <ds:schemaRef ds:uri="cb1b0fa5-25b7-437e-86ef-ee6c24009de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28719D6-7AF5-44E8-93B3-324077137590}">
  <ds:schemaRefs>
    <ds:schemaRef ds:uri="44dff86b-9fde-4986-8921-e94e11ccde2a"/>
    <ds:schemaRef ds:uri="cb1b0fa5-25b7-437e-86ef-ee6c24009de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Slate</vt:lpstr>
      <vt:lpstr>SQLite3! </vt:lpstr>
      <vt:lpstr>Lesson Objectives</vt:lpstr>
      <vt:lpstr>Primary &amp; Foreign Keys</vt:lpstr>
      <vt:lpstr>Primary &amp; Foreign Keys</vt:lpstr>
      <vt:lpstr>Primary &amp; Foreign Keys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revision>1</cp:revision>
  <dcterms:modified xsi:type="dcterms:W3CDTF">2026-04-20T09:15:29Z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0x0101001D0C76E5EEB86245B1F8CB62D1DF6EF2</vt:lpwstr>
  </property>
  <property fmtid="{D5CDD505-2E9C-101B-9397-08002B2CF9AE}" pid="3" name="MediaServiceImageTags">
    <vt:lpwstr/>
  </property>
</Properties>
</file>